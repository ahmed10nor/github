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371600"/>
            <a:ext cx="4114800" cy="4114800"/>
          </a:xfrm>
          <a:prstGeom prst="ellipse">
            <a:avLst/>
          </a:prstGeom>
          <a:solidFill>
            <a:srgbClr val="0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731520"/>
            <a:ext cx="2286000" cy="2286000"/>
          </a:xfrm>
          <a:prstGeom prst="ellipse">
            <a:avLst/>
          </a:prstGeom>
          <a:solidFill>
            <a:srgbClr val="00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2743200" cy="2743200"/>
          </a:xfrm>
          <a:prstGeom prst="ellipse">
            <a:avLst/>
          </a:prstGeom>
          <a:solidFill>
            <a:srgbClr val="150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645920" y="1097280"/>
            <a:ext cx="2286000" cy="2286000"/>
          </a:xfrm>
          <a:prstGeom prst="ellipse">
            <a:avLst/>
          </a:prstGeom>
          <a:solidFill>
            <a:srgbClr val="0E0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8872" cy="3840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Georgia"/>
              </a:rPr>
              <a:t>LuminAgents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B4D8"/>
                </a:solidFill>
                <a:latin typeface="Calibri"/>
              </a:rPr>
              <a:t>AI-Powered Personal Skill Coach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2E8F0"/>
                </a:solidFill>
                <a:latin typeface="Calibri"/>
              </a:rPr>
              <a:t>Learn smarter.   Stay consistent.   Never quit.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69080"/>
            <a:ext cx="50292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Agenticthon  |  Prince Sattam bin Abdulaziz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Calibri"/>
              </a:rPr>
              <a:t>Ahmed   .   Khayri   .   Abdulrahman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03520"/>
            <a:ext cx="5303520" cy="50292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3766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Multi-Agent Systems   |   Smart Future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120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00B4D8"/>
                </a:solidFill>
                <a:latin typeface="Georgia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learners quit within 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Calibri"/>
              </a:rPr>
              <a:t>Not because they're lazy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41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  <a:latin typeface="Calibri"/>
              </a:rPr>
              <a:t>because they have no one watching their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640080"/>
            <a:ext cx="5212080" cy="169164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0" y="640080"/>
            <a:ext cx="91440" cy="1691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777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Personalized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234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Generic courses ignore your pace, level, and real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560320"/>
            <a:ext cx="5212080" cy="169164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2560320"/>
            <a:ext cx="91440" cy="1691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6974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5467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Motivation fades fast with no coach to check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480560"/>
            <a:ext cx="5212080" cy="169164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4480560"/>
            <a:ext cx="91440" cy="1691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4617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Recovery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074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One missed day easily becomes one missed month.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74920"/>
            <a:ext cx="5760720" cy="566928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1480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"The missing piece: a coach that knows you and never sleeps."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Georgia"/>
              </a:rPr>
              <a:t>Meet LuminAgents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42415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A Multi-Agent AI system that acts as your personal skill coach — from day one to goal achieved.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61188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2011680"/>
            <a:ext cx="777240" cy="7772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20299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Calibri"/>
              </a:rPr>
              <a:t>Personalized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Builds a custom roadmap using scientific time-estimation, dependency graphs, and your exact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78308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7" y="1783080"/>
            <a:ext cx="36118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24727" y="201168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24727" y="20299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971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Calibri"/>
              </a:rPr>
              <a:t>AI Daily Coaching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5478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Delivers daily tasks from pre-built plans. Answers questions with a hallucination-proof offline RAG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78308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66175" y="1783080"/>
            <a:ext cx="3611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83496" y="20116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83496" y="20299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2971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Calibri"/>
              </a:rPr>
              <a:t>Intelligent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35478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Detects failure and disengagement before it becomes quitting. Rebuilds plans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327648"/>
            <a:ext cx="10881360" cy="320040"/>
          </a:xfrm>
          <a:prstGeom prst="roundRect">
            <a:avLst/>
          </a:prstGeom>
          <a:solidFill>
            <a:srgbClr val="D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6078"/>
                </a:solidFill>
                <a:latin typeface="Calibri"/>
              </a:rPr>
              <a:t>REST API architecture — Telegram today, Mobile &amp; Web tomorrow, same backend.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5 specialized agents, one unified orchestrator — each with a single responsibility.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463040"/>
            <a:ext cx="4297680" cy="9144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0" y="157276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120"/>
                </a:solidFill>
                <a:latin typeface="Calibri"/>
              </a:rPr>
              <a:t>LuminAgents 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33472"/>
            <a:ext cx="10789920" cy="4572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63040" y="2633472"/>
            <a:ext cx="45720" cy="41148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3044952"/>
            <a:ext cx="2103120" cy="32004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044952"/>
            <a:ext cx="21031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07592" y="321868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Parses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One-time offline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1608" y="2633472"/>
            <a:ext cx="45720" cy="41148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61488" y="3044952"/>
            <a:ext cx="2103120" cy="32004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61488" y="3044952"/>
            <a:ext cx="21031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66160" y="3218688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1488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315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Hierarchical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663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Macro + Micro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0176" y="2633472"/>
            <a:ext cx="45720" cy="41148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0056" y="3044952"/>
            <a:ext cx="2103120" cy="32004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0056" y="3044952"/>
            <a:ext cx="21031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824728" y="321868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0056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0056" y="4315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Offline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4663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48GB Wikipedia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2633472"/>
            <a:ext cx="45720" cy="41148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278624" y="3044952"/>
            <a:ext cx="2103120" cy="32004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78624" y="3044952"/>
            <a:ext cx="21031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83296" y="321868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78624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4315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Passive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4663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Zero daily LLM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97312" y="2633472"/>
            <a:ext cx="45720" cy="41148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537192" y="3044952"/>
            <a:ext cx="2103120" cy="32004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37192" y="3044952"/>
            <a:ext cx="21031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41864" y="3218688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37192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Fixer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4315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3 Triggers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192" y="4663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Streak, Gap, Rebuild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Explicit routing  |  Deterministic + LLM Hybrid  |  No black-box autonomy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Georgia"/>
              </a:rPr>
              <a:t>The 5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115568"/>
            <a:ext cx="2249424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2249424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1612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5087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293B"/>
                </a:solidFill>
                <a:latin typeface="Calibri"/>
              </a:rPr>
              <a:t>Offline / One-Time</a:t>
            </a:r>
          </a:p>
        </p:txBody>
      </p:sp>
      <p:sp>
        <p:nvSpPr>
          <p:cNvPr id="8" name="Oval 7"/>
          <p:cNvSpPr/>
          <p:nvPr/>
        </p:nvSpPr>
        <p:spPr>
          <a:xfrm>
            <a:off x="475488" y="203911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Reads Markdown KB files</a:t>
            </a:r>
          </a:p>
        </p:txBody>
      </p:sp>
      <p:sp>
        <p:nvSpPr>
          <p:cNvPr id="10" name="Oval 9"/>
          <p:cNvSpPr/>
          <p:nvPr/>
        </p:nvSpPr>
        <p:spPr>
          <a:xfrm>
            <a:off x="475488" y="313639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03580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LLM extracts lessons + weights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" y="423367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33087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Outputs curriculum_map.json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" y="533095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523036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Pydantic: sum(weights) =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6624" y="1115568"/>
            <a:ext cx="2249424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06624" y="1115568"/>
            <a:ext cx="224942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52344" y="11612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344" y="15087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293B"/>
                </a:solidFill>
                <a:latin typeface="Calibri"/>
              </a:rPr>
              <a:t>Hierarchical Planning</a:t>
            </a:r>
          </a:p>
        </p:txBody>
      </p:sp>
      <p:sp>
        <p:nvSpPr>
          <p:cNvPr id="20" name="Oval 19"/>
          <p:cNvSpPr/>
          <p:nvPr/>
        </p:nvSpPr>
        <p:spPr>
          <a:xfrm>
            <a:off x="2834640" y="2039112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193852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Topological sort (Kahn's algo)</a:t>
            </a:r>
          </a:p>
        </p:txBody>
      </p:sp>
      <p:sp>
        <p:nvSpPr>
          <p:cNvPr id="22" name="Oval 21"/>
          <p:cNvSpPr/>
          <p:nvPr/>
        </p:nvSpPr>
        <p:spPr>
          <a:xfrm>
            <a:off x="2834640" y="3136392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303580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 = ceil(H_total / (h x d))</a:t>
            </a:r>
          </a:p>
        </p:txBody>
      </p:sp>
      <p:sp>
        <p:nvSpPr>
          <p:cNvPr id="24" name="Oval 23"/>
          <p:cNvSpPr/>
          <p:nvPr/>
        </p:nvSpPr>
        <p:spPr>
          <a:xfrm>
            <a:off x="2834640" y="4233672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4133087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 templates: 80/20, Linear...</a:t>
            </a:r>
          </a:p>
        </p:txBody>
      </p:sp>
      <p:sp>
        <p:nvSpPr>
          <p:cNvPr id="26" name="Oval 25"/>
          <p:cNvSpPr/>
          <p:nvPr/>
        </p:nvSpPr>
        <p:spPr>
          <a:xfrm>
            <a:off x="2834640" y="5330952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08960" y="523036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Self-correction loop (x3)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5776" y="1115568"/>
            <a:ext cx="2249424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65776" y="1115568"/>
            <a:ext cx="2249424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11496" y="11612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15087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293B"/>
                </a:solidFill>
                <a:latin typeface="Calibri"/>
              </a:rPr>
              <a:t>Offline RAG Brain</a:t>
            </a:r>
          </a:p>
        </p:txBody>
      </p:sp>
      <p:sp>
        <p:nvSpPr>
          <p:cNvPr id="32" name="Oval 31"/>
          <p:cNvSpPr/>
          <p:nvPr/>
        </p:nvSpPr>
        <p:spPr>
          <a:xfrm>
            <a:off x="5193792" y="203911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68112" y="193852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48GB Wikipedia -&gt; LanceDB</a:t>
            </a:r>
          </a:p>
        </p:txBody>
      </p:sp>
      <p:sp>
        <p:nvSpPr>
          <p:cNvPr id="34" name="Oval 33"/>
          <p:cNvSpPr/>
          <p:nvPr/>
        </p:nvSpPr>
        <p:spPr>
          <a:xfrm>
            <a:off x="5193792" y="313639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68112" y="303580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GPU-accelerated (RTX 4060)</a:t>
            </a:r>
          </a:p>
        </p:txBody>
      </p:sp>
      <p:sp>
        <p:nvSpPr>
          <p:cNvPr id="36" name="Oval 35"/>
          <p:cNvSpPr/>
          <p:nvPr/>
        </p:nvSpPr>
        <p:spPr>
          <a:xfrm>
            <a:off x="5193792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68112" y="4133087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19.5M entries indexed</a:t>
            </a:r>
          </a:p>
        </p:txBody>
      </p:sp>
      <p:sp>
        <p:nvSpPr>
          <p:cNvPr id="38" name="Oval 37"/>
          <p:cNvSpPr/>
          <p:nvPr/>
        </p:nvSpPr>
        <p:spPr>
          <a:xfrm>
            <a:off x="5193792" y="533095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68112" y="523036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Hallucination-proof retrieval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24928" y="1115568"/>
            <a:ext cx="2249424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24928" y="1115568"/>
            <a:ext cx="2249424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0648" y="11612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Coach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0648" y="15087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293B"/>
                </a:solidFill>
                <a:latin typeface="Calibri"/>
              </a:rPr>
              <a:t>Passive Mode</a:t>
            </a:r>
          </a:p>
        </p:txBody>
      </p:sp>
      <p:sp>
        <p:nvSpPr>
          <p:cNvPr id="44" name="Oval 43"/>
          <p:cNvSpPr/>
          <p:nvPr/>
        </p:nvSpPr>
        <p:spPr>
          <a:xfrm>
            <a:off x="7552944" y="203911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27264" y="193852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Zero LLM calls daily</a:t>
            </a:r>
          </a:p>
        </p:txBody>
      </p:sp>
      <p:sp>
        <p:nvSpPr>
          <p:cNvPr id="46" name="Oval 45"/>
          <p:cNvSpPr/>
          <p:nvPr/>
        </p:nvSpPr>
        <p:spPr>
          <a:xfrm>
            <a:off x="7552944" y="313639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27264" y="303580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Pre-generated daily tasks</a:t>
            </a:r>
          </a:p>
        </p:txBody>
      </p:sp>
      <p:sp>
        <p:nvSpPr>
          <p:cNvPr id="48" name="Oval 47"/>
          <p:cNvSpPr/>
          <p:nvPr/>
        </p:nvSpPr>
        <p:spPr>
          <a:xfrm>
            <a:off x="7552944" y="423367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27264" y="4133087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Streak tracking per session</a:t>
            </a:r>
          </a:p>
        </p:txBody>
      </p:sp>
      <p:sp>
        <p:nvSpPr>
          <p:cNvPr id="50" name="Oval 49"/>
          <p:cNvSpPr/>
          <p:nvPr/>
        </p:nvSpPr>
        <p:spPr>
          <a:xfrm>
            <a:off x="7552944" y="533095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27264" y="523036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Snapshot-based context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1115568"/>
            <a:ext cx="2249424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84080" y="1115568"/>
            <a:ext cx="2249424" cy="3840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29800" y="11612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Fixer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15087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293B"/>
                </a:solidFill>
                <a:latin typeface="Calibri"/>
              </a:rPr>
              <a:t>3 Smart Triggers</a:t>
            </a:r>
          </a:p>
        </p:txBody>
      </p:sp>
      <p:sp>
        <p:nvSpPr>
          <p:cNvPr id="56" name="Oval 55"/>
          <p:cNvSpPr/>
          <p:nvPr/>
        </p:nvSpPr>
        <p:spPr>
          <a:xfrm>
            <a:off x="9912096" y="2039112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186416" y="193852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streak &gt;= 3: LLM motivation</a:t>
            </a:r>
          </a:p>
        </p:txBody>
      </p:sp>
      <p:sp>
        <p:nvSpPr>
          <p:cNvPr id="58" name="Oval 57"/>
          <p:cNvSpPr/>
          <p:nvPr/>
        </p:nvSpPr>
        <p:spPr>
          <a:xfrm>
            <a:off x="9912096" y="3136392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86416" y="303580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gap 2-3d: DB reschedule</a:t>
            </a:r>
          </a:p>
        </p:txBody>
      </p:sp>
      <p:sp>
        <p:nvSpPr>
          <p:cNvPr id="60" name="Oval 59"/>
          <p:cNvSpPr/>
          <p:nvPr/>
        </p:nvSpPr>
        <p:spPr>
          <a:xfrm>
            <a:off x="9912096" y="4233672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186416" y="4133087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gap &gt; 3d: Planner.rebuild()</a:t>
            </a:r>
          </a:p>
        </p:txBody>
      </p:sp>
      <p:sp>
        <p:nvSpPr>
          <p:cNvPr id="62" name="Oval 61"/>
          <p:cNvSpPr/>
          <p:nvPr/>
        </p:nvSpPr>
        <p:spPr>
          <a:xfrm>
            <a:off x="9912096" y="5330952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86416" y="5230368"/>
            <a:ext cx="1764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Detects dropout before it happens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Intelligent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One message. Complete plan. Zero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6949440" cy="86868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591056"/>
            <a:ext cx="6629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Calibri"/>
              </a:rPr>
              <a:t>User:  "Hi! I'm Ahmed. I want to learn Python. Beginner, 1.5h/day, 5 days a week."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395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949440" cy="6858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914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0175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nsolas"/>
              </a:rPr>
              <a:t>Ahmed | Python | academic | beginner | 1.5h | 5d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611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6949440" cy="169164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91440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6-Week Python Plan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68172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Week 1-2: Setup &amp; Basics   |   Week 3-4: Core Concepts   |   Week 5-6: Real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0235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1.5h daily tasks pre-generated   |   KB-backed curriculum   |   Adaptive to your 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481328"/>
            <a:ext cx="3977639" cy="4325112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16002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Why One-Shot?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176272"/>
            <a:ext cx="3703320" cy="109728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22402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Pipe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5786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onsolas"/>
              </a:rPr>
              <a:t>NAME|GOAL|CATEGORY|LEVEL|HOURS|DAYS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8895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Fewer tokens, zero JSON parsing errors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383280"/>
            <a:ext cx="3703320" cy="109728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3447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Back-and-Forth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856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onsolas"/>
              </a:rPr>
              <a:t>Single message -&gt; complete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096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UX that feels instant, not mechanical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590288"/>
            <a:ext cx="3703320" cy="1097280"/>
          </a:xfrm>
          <a:prstGeom prst="round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79" y="46542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Bilingual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992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onsolas"/>
              </a:rPr>
              <a:t>Arabic/English auto-detected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Real bilingual support built-in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Georgia"/>
              </a:rPr>
              <a:t>Hierarchical Planning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Scientific time estimation — not guesswork.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141732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Time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onsolas"/>
              </a:rPr>
              <a:t>W  =  ceil( H_total / ( h x d 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U: beginner=1.4  |  intermediate=1.0  |  advanced=0.75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26060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26060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Macro — Milestones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Topological sort (Kahn's algorithm)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52544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Dependency graph from KB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4748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Lesson weights define ordering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4243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Snapshot at each milestone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154680"/>
            <a:ext cx="26060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29000" y="3154680"/>
            <a:ext cx="26060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152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Micro — Daily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6576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Pre-generated at planning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35254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Stored in SQLite daily_tasks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04748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Coach reads DB — zero LLM/day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5742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-&gt; Self-correction loop (MAX 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554480"/>
            <a:ext cx="5577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4 Planning Templates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40280"/>
            <a:ext cx="164592" cy="71323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22585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80/20 Project-Based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6426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20% of skills unlock 80% of real-world 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319272"/>
            <a:ext cx="164592" cy="7132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3337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Linear Mastery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72160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One concept fully mastered before the next.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398264"/>
            <a:ext cx="164592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44165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Habit Stacking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80060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Anchors skills to existing daily routines.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477256"/>
            <a:ext cx="164592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54955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Progressive Overload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87959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Start minimal, increase complexity systematically.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274320"/>
            <a:ext cx="4114800" cy="4114800"/>
          </a:xfrm>
          <a:prstGeom prst="ellipse">
            <a:avLst/>
          </a:prstGeom>
          <a:solidFill>
            <a:srgbClr val="00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200400"/>
            <a:ext cx="5029200" cy="5029200"/>
          </a:xfrm>
          <a:prstGeom prst="ellipse">
            <a:avLst/>
          </a:prstGeom>
          <a:solidFill>
            <a:srgbClr val="00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The Offline RAG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869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Hallucination-proof knowledge retrieval — no internet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578608" cy="141732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Georgia"/>
              </a:rPr>
              <a:t>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Knowledge
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81328"/>
            <a:ext cx="2578608" cy="141732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536192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Georgia"/>
              </a:rPr>
              <a:t>19.5 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Entries
Indexed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81328"/>
            <a:ext cx="2578608" cy="141732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536192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Georgia"/>
              </a:rPr>
              <a:t>RTX 4060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GPU
CUDA Powered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481328"/>
            <a:ext cx="2578608" cy="141732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1536192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Georgia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286000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Offline
No API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9" name="Oval 18"/>
          <p:cNvSpPr/>
          <p:nvPr/>
        </p:nvSpPr>
        <p:spPr>
          <a:xfrm>
            <a:off x="1161288" y="3703320"/>
            <a:ext cx="594360" cy="5943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3730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74903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24" name="Oval 23"/>
          <p:cNvSpPr/>
          <p:nvPr/>
        </p:nvSpPr>
        <p:spPr>
          <a:xfrm>
            <a:off x="3465576" y="370332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65576" y="3730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438912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GPU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7208" y="475488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SentenceTransformer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374903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29" name="Oval 28"/>
          <p:cNvSpPr/>
          <p:nvPr/>
        </p:nvSpPr>
        <p:spPr>
          <a:xfrm>
            <a:off x="5769864" y="37033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9864" y="3730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438912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LanceDB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1496" y="475488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Vector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6" y="374903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34" name="Oval 33"/>
          <p:cNvSpPr/>
          <p:nvPr/>
        </p:nvSpPr>
        <p:spPr>
          <a:xfrm>
            <a:off x="8074152" y="37033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74152" y="3730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5784" y="438912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Semantic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4" y="475488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374903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39" name="Oval 38"/>
          <p:cNvSpPr/>
          <p:nvPr/>
        </p:nvSpPr>
        <p:spPr>
          <a:xfrm>
            <a:off x="10378440" y="3703320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78440" y="3730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438912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Verified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475488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Context -&gt; LLM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3127248"/>
            <a:ext cx="4069080" cy="34290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01000" y="32461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Why This Matters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37673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+ Hallucination-Proof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096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LLM rejects irrelevant context — tested &amp; verified.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51713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+ Truly Offline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846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Works anywhere — no API, no internet dependency.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52669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+ Resumable Indexing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55961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Checkpoint system survives crashes, resumes exactly.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6016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+ Batch-Optimized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63459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40K-entry batches, 128-sample GPU chunks — 100% utilization.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Georgia"/>
              </a:rPr>
              <a:t>Coach &amp; Fixer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15568"/>
            <a:ext cx="553212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5321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161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Coach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070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CCFFEE"/>
                </a:solidFill>
                <a:latin typeface="Calibri"/>
              </a:rPr>
              <a:t>Passive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475488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92807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1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Zero Daily LLM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79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Pre-generated tasks — zero API calls per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71800"/>
            <a:ext cx="475488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99008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718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Answers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LLM triggered only on content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069079"/>
            <a:ext cx="475488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087367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6907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Streak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Auto-updated on every check-in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66359"/>
            <a:ext cx="475488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5184647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6635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Bilingual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Arabic &amp; English — auto-detected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1115568"/>
            <a:ext cx="553212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1115568"/>
            <a:ext cx="5532120" cy="4754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161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Fixer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2070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CCCC"/>
                </a:solidFill>
                <a:latin typeface="Calibri"/>
              </a:rPr>
              <a:t>3 Smart Triggers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1874519"/>
            <a:ext cx="5230368" cy="137160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65392" y="2258568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22768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207568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Failure Streak ≥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560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Motivational message  +  streak reset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3447287"/>
            <a:ext cx="5230368" cy="137160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65392" y="3831335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38496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364845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Gap  2 – 3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4133087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Auto-reschedule  (pure DB, no LLM)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5020056"/>
            <a:ext cx="5230368" cy="137160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65392" y="5404104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5392" y="5422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522122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Gap  &gt;  3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57058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Full plan rebuild from current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097280"/>
            <a:ext cx="5029200" cy="5029200"/>
          </a:xfrm>
          <a:prstGeom prst="ellipse">
            <a:avLst/>
          </a:prstGeom>
          <a:solidFill>
            <a:srgbClr val="080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3840480"/>
            <a:ext cx="4114800" cy="4114800"/>
          </a:xfrm>
          <a:prstGeom prst="ellipse">
            <a:avLst/>
          </a:prstGeom>
          <a:solidFill>
            <a:srgbClr val="00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Innovation Axes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15568"/>
            <a:ext cx="5349240" cy="553212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534924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Smart Future Education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103120"/>
            <a:ext cx="292608" cy="29260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1226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B1120"/>
                </a:solidFill>
                <a:latin typeface="Calibri"/>
              </a:rP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9339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Adapts to your pace, level &amp; schedule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971800"/>
            <a:ext cx="292608" cy="29260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8094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B1120"/>
                </a:solidFill>
                <a:latin typeface="Calibri"/>
              </a:rPr>
              <a:t>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6207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Scientific curriculum — not generic content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840480"/>
            <a:ext cx="292608" cy="29260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84962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B1120"/>
                </a:solidFill>
                <a:latin typeface="Calibri"/>
              </a:rPr>
              <a:t>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307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Near-zero daily cost  (Passive Mode)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709159"/>
            <a:ext cx="292608" cy="29260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718303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B1120"/>
                </a:solidFill>
                <a:latin typeface="Calibr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99431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Offline knowledge base — scalable to any source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577840"/>
            <a:ext cx="292608" cy="29260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8698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B1120"/>
                </a:solidFill>
                <a:latin typeface="Calibri"/>
              </a:rPr>
              <a:t>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6811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Arabic &amp; English natively supported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115568"/>
            <a:ext cx="5577840" cy="553212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115568"/>
            <a:ext cx="557784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261872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Multi-Agent Systems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10312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11226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99339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5 agents — one clear responsibility each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29718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98094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6207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Explicit routing: deterministic + LLM fallback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84048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84962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73075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Self-correction loop in Planner (×3 retries)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709159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718303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599431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Pydantic contracts between all agents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55778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558698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46811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REST API — platform-agnostic by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Georgia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272491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527048"/>
            <a:ext cx="658368" cy="6583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2704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Gemini 2.5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1168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29844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1568" y="1298448"/>
            <a:ext cx="272491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60" y="152704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57276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52704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01168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29844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45936" y="1298448"/>
            <a:ext cx="272491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10528" y="1527048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57276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52704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Telegram 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1168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29844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90304" y="1298448"/>
            <a:ext cx="272491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54896" y="152704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157276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9568" y="152704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Python 3.11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201168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8152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3081528"/>
            <a:ext cx="2724912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1792" y="3310128"/>
            <a:ext cx="658368" cy="6583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335584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331012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SQLite + 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6464" y="37947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01568" y="308152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01568" y="3081528"/>
            <a:ext cx="272491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66160" y="3310128"/>
            <a:ext cx="658368" cy="6583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335584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331012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LanceDB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37947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Vector DB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45936" y="308152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45936" y="3081528"/>
            <a:ext cx="272491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10528" y="331012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335584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31012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SentenceTransformers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7947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Embeddings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90304" y="308152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90304" y="3081528"/>
            <a:ext cx="272491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454896" y="3310128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54896" y="335584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9568" y="331012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Pydantic 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9568" y="37947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Validation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86460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864608"/>
            <a:ext cx="272491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1792" y="509320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513892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6464" y="509320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Streamlit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6464" y="5577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Monitoring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01568" y="486460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401568" y="4864608"/>
            <a:ext cx="2724912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566160" y="5093208"/>
            <a:ext cx="658368" cy="6583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566160" y="513892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2" y="509320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Markdown + RAG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0832" y="5577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Knowledge Base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45936" y="486460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345936" y="4864608"/>
            <a:ext cx="272491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510528" y="5093208"/>
            <a:ext cx="658368" cy="6583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10528" y="513892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GPU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509320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NVIDIA RTX 4060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577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GPU / CUDA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290304" y="4864608"/>
            <a:ext cx="27249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290304" y="4864608"/>
            <a:ext cx="272491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454896" y="509320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54896" y="513892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SDK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59568" y="5093208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google-genai SDK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59568" y="5577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LLM Client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0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840480"/>
            <a:ext cx="4114800" cy="4114800"/>
          </a:xfrm>
          <a:prstGeom prst="ellipse">
            <a:avLst/>
          </a:prstGeom>
          <a:solidFill>
            <a:srgbClr val="180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03520" y="256032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8872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78992"/>
            <a:ext cx="8686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The future of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8686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B4D8"/>
                </a:solidFill>
                <a:latin typeface="Georgia"/>
              </a:rPr>
              <a:t>is agentic.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  <a:latin typeface="Calibri"/>
              </a:rPr>
              <a:t>LuminAgents doesn't give you a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2E8F0"/>
                </a:solidFill>
                <a:latin typeface="Calibri"/>
              </a:rPr>
              <a:t>It gives you a coach that plans, tracks, motivates, and rebuilds — until you reach your goal.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10515600" cy="1600200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Built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2702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Ahmed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736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Lead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2702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Khayri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736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AI &amp;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42702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Abdulrahman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4736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Research &amp;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5870448"/>
            <a:ext cx="5486400" cy="658368"/>
          </a:xfrm>
          <a:prstGeom prst="round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5961888"/>
            <a:ext cx="5376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Agenticthon  |  Prince Sattam bin Abdulaziz University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1047</Words>
  <Application>Microsoft Office PowerPoint</Application>
  <PresentationFormat>Custom</PresentationFormat>
  <Paragraphs>260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احمد عبدالمحمود احمد نور الهدى</cp:lastModifiedBy>
  <cp:revision>1</cp:revision>
  <cp:lastPrinted>2026-04-24T23:47:23Z</cp:lastPrinted>
  <dcterms:created xsi:type="dcterms:W3CDTF">2013-01-27T09:14:16Z</dcterms:created>
  <dcterms:modified xsi:type="dcterms:W3CDTF">2026-04-24T23:47:26Z</dcterms:modified>
  <cp:category/>
</cp:coreProperties>
</file>